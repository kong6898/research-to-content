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4389120"/>
            <a:ext cx="3931920" cy="254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20"/>
              </a:spcAft>
              <a:defRPr sz="4400" b="1">
                <a:solidFill>
                  <a:srgbClr val="FFFFFF"/>
                </a:solidFill>
                <a:latin typeface="Noto Serif SC"/>
              </a:defRPr>
            </a:pPr>
            <a:r>
              <a:t>你的微笑，属于你自己吗？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760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0">
                <a:solidFill>
                  <a:srgbClr val="888888"/>
                </a:solidFill>
                <a:latin typeface="Noto Sans SC"/>
              </a:defRPr>
            </a:pPr>
            <a:r>
              <a:t>《心灵的整饰》第一章 · 读书会分享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0"/>
              </a:spcAft>
              <a:defRPr sz="18000" b="1">
                <a:solidFill>
                  <a:srgbClr val="CC2222"/>
                </a:solidFill>
                <a:latin typeface="Noto Serif SC"/>
              </a:defRPr>
            </a:pPr>
            <a: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18288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Noto Serif SC"/>
              </a:defRPr>
            </a:pPr>
            <a:r>
              <a:t>你有算过，一天微笑多少次吗？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4747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2400" b="0">
                <a:solidFill>
                  <a:srgbClr val="888888"/>
                </a:solidFill>
                <a:latin typeface="Noto Serif SC"/>
              </a:defRPr>
            </a:pPr>
            <a:r>
              <a:t>其中有几次是真的想笑？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5720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555555"/>
                </a:solidFill>
                <a:latin typeface="Noto Sans SC"/>
              </a:defRPr>
            </a:pPr>
            <a:r>
              <a:t>☺ ☺ ☺ ☺ ☺ ☺ ☺ ☺</a:t>
            </a:r>
            <a:br/>
            <a:r>
              <a:t>☺ ☺ ☺ ☺ ☺ ☺ ☺ ☺</a:t>
            </a:r>
            <a:br/>
            <a:r>
              <a:t>☺ ☺ ☺ ☺ ☺ ☺ ☺ ☺</a:t>
            </a:r>
            <a:br/>
            <a:r>
              <a:t>☺ ☺ ☺ ☺ ☺ ☺ ☺ ☺</a:t>
            </a:r>
            <a:br/>
            <a:r>
              <a:t>☺ ☺ ☺ ☺ ☺ ☺ ☺ ☺</a:t>
            </a:r>
            <a:br/>
            <a:r>
              <a:t>☺ ☺ ☺ ☺ ☺ ☺ ☺ ☺</a:t>
            </a:r>
            <a:br/>
            <a:r>
              <a:t>☺ ☺ ☺ ☺ ☺ ☺ ☺ ☺</a:t>
            </a:r>
            <a:br/>
            <a:r>
              <a:t>☺ ☺ ☺ ☺ ☺ ☺ ☺ ☺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3017520"/>
            <a:ext cx="8503920" cy="254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000" b="1">
                <a:solidFill>
                  <a:srgbClr val="FFFFFF"/>
                </a:solidFill>
                <a:latin typeface="Noto Serif SC"/>
              </a:defRPr>
            </a:pPr>
            <a:r>
              <a:t>当情感成为工作的原材料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0">
                <a:solidFill>
                  <a:srgbClr val="888888"/>
                </a:solidFill>
                <a:latin typeface="Noto Serif SC"/>
              </a:defRPr>
            </a:pPr>
            <a:r>
              <a:t>现代服务业不仅使用人的身体和头脑，</a:t>
            </a:r>
            <a:br/>
            <a:r>
              <a:t>也开始使用人的情感。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CC2222"/>
                </a:solidFill>
                <a:latin typeface="Noto Serif SC"/>
              </a:defRPr>
            </a:pPr>
            <a:r>
              <a:t>——《心灵的整饰》第一章核心论点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0000"/>
                </a:solidFill>
                <a:latin typeface="Noto Serif SC"/>
              </a:defRPr>
            </a:pPr>
            <a:r>
              <a:t>从身体到情感：一章的叙事弧线</a:t>
            </a:r>
          </a:p>
        </p:txBody>
      </p:sp>
      <p:sp>
        <p:nvSpPr>
          <p:cNvPr id="3" name="Oval 2"/>
          <p:cNvSpPr/>
          <p:nvPr/>
        </p:nvSpPr>
        <p:spPr>
          <a:xfrm>
            <a:off x="2103120" y="292608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000000"/>
                </a:solidFill>
                <a:latin typeface="Noto Sans SC"/>
              </a:defRPr>
            </a:pPr>
            <a:r>
              <a:t>工业劳动</a:t>
            </a:r>
            <a:br/>
            <a:r>
              <a:t>身体异化</a:t>
            </a:r>
          </a:p>
        </p:txBody>
      </p:sp>
      <p:sp>
        <p:nvSpPr>
          <p:cNvPr id="5" name="Oval 4"/>
          <p:cNvSpPr/>
          <p:nvPr/>
        </p:nvSpPr>
        <p:spPr>
          <a:xfrm>
            <a:off x="5760720" y="2926080"/>
            <a:ext cx="548640" cy="54864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333333"/>
                </a:solidFill>
                <a:latin typeface="Noto Sans SC"/>
              </a:defRPr>
            </a:pPr>
            <a:r>
              <a:t>服务劳动</a:t>
            </a:r>
            <a:br/>
            <a:r>
              <a:t>情感异化</a:t>
            </a:r>
          </a:p>
        </p:txBody>
      </p:sp>
      <p:sp>
        <p:nvSpPr>
          <p:cNvPr id="7" name="Oval 6"/>
          <p:cNvSpPr/>
          <p:nvPr/>
        </p:nvSpPr>
        <p:spPr>
          <a:xfrm>
            <a:off x="9418320" y="2926080"/>
            <a:ext cx="548640" cy="548640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CC2222"/>
                </a:solidFill>
                <a:latin typeface="Noto Sans SC"/>
              </a:defRPr>
            </a:pPr>
            <a:r>
              <a:t>情感劳动</a:t>
            </a:r>
            <a:br/>
            <a:r>
              <a:t>概念提出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3154680"/>
            <a:ext cx="256032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3154680"/>
            <a:ext cx="2560320" cy="381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4754880" y="3063240"/>
            <a:ext cx="274320" cy="22860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8412480" y="3063240"/>
            <a:ext cx="274320" cy="228600"/>
          </a:xfrm>
          <a:prstGeom prst="triangl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Noto Serif SC"/>
              </a:defRPr>
            </a:pPr>
            <a:r>
              <a:t>工厂里的身体，是谁的？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888888"/>
                </a:solidFill>
                <a:latin typeface="Noto Serif SC"/>
              </a:defRPr>
            </a:pPr>
            <a:r>
              <a:t>马克思关注的是，工厂如何把身体、时间和动作变成生产工具。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0058400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10058400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10058400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5029200"/>
            <a:ext cx="10058400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5486400"/>
            <a:ext cx="10058400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3977639"/>
            <a:ext cx="274320" cy="2743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3977639"/>
            <a:ext cx="274320" cy="2743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49039" y="3977639"/>
            <a:ext cx="274320" cy="2743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3977639"/>
            <a:ext cx="274320" cy="2743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3977639"/>
            <a:ext cx="274320" cy="2743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3977639"/>
            <a:ext cx="274320" cy="2743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0" y="3977639"/>
            <a:ext cx="274320" cy="2743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92640" y="3977639"/>
            <a:ext cx="274320" cy="2743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Noto Serif SC"/>
              </a:defRPr>
            </a:pPr>
            <a:r>
              <a:t>被购买的不只是肌肉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888888"/>
                </a:solidFill>
                <a:latin typeface="Noto Serif SC"/>
              </a:defRPr>
            </a:pPr>
            <a:r>
              <a:t>服务业社会里，被使用的还有微笑、声音、热情和人格。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828800"/>
            <a:ext cx="1828800" cy="41148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914400"/>
            <a:ext cx="1463040" cy="146304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2103120"/>
            <a:ext cx="1828800" cy="381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1188720"/>
            <a:ext cx="1828800" cy="15544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888888"/>
                </a:solidFill>
                <a:latin typeface="Noto Serif SC"/>
              </a:defRPr>
            </a:pPr>
            <a:r>
              <a:t>工业时代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914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CC2222"/>
                </a:solidFill>
                <a:latin typeface="Noto Serif SC"/>
              </a:defRPr>
            </a:pPr>
            <a:r>
              <a:t>服务业时代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Noto Serif SC"/>
              </a:defRPr>
            </a:pPr>
            <a:r>
              <a:t>三万英尺上的情感秀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888888"/>
                </a:solidFill>
                <a:latin typeface="Noto Serif SC"/>
              </a:defRPr>
            </a:pPr>
            <a:r>
              <a:t>空乘的工作，本质上是情绪的服务。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743200"/>
            <a:ext cx="6675120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3291840"/>
            <a:ext cx="5760720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3840480"/>
            <a:ext cx="4846320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4389120"/>
            <a:ext cx="3931920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937760"/>
            <a:ext cx="3017520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5486400"/>
            <a:ext cx="2103120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3840480"/>
            <a:ext cx="2103120" cy="254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Noto Serif SC"/>
              </a:defRPr>
            </a:pPr>
            <a:r>
              <a:t>微笑不是产品，是原材料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888888"/>
                </a:solidFill>
                <a:latin typeface="Noto Serif SC"/>
              </a:defRPr>
            </a:pPr>
            <a:r>
              <a:t>空乘卖的不是笑容本身，而是通过笑容制造出来的乘客感受。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200400"/>
            <a:ext cx="3657600" cy="2743200"/>
          </a:xfrm>
          <a:prstGeom prst="rect">
            <a:avLst/>
          </a:prstGeom>
          <a:solidFill>
            <a:srgbClr val="222222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75120" y="3200400"/>
            <a:ext cx="3657600" cy="2743200"/>
          </a:xfrm>
          <a:prstGeom prst="rect">
            <a:avLst/>
          </a:prstGeom>
          <a:solidFill>
            <a:srgbClr val="222222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60"/>
              </a:spcAft>
              <a:defRPr sz="7200" b="0">
                <a:solidFill>
                  <a:srgbClr val="FFFFFF"/>
                </a:solidFill>
                <a:latin typeface="Noto Serif SC"/>
              </a:defRPr>
            </a:pPr>
            <a:r>
              <a:t>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60"/>
              </a:spcAft>
              <a:defRPr sz="7200" b="0">
                <a:solidFill>
                  <a:srgbClr val="888888"/>
                </a:solidFill>
                <a:latin typeface="Noto Serif SC"/>
              </a:defRPr>
            </a:pPr>
            <a: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029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888888"/>
                </a:solidFill>
                <a:latin typeface="Noto Serif SC"/>
              </a:defRPr>
            </a:pPr>
            <a:r>
              <a:t>微笑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5029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CC2222"/>
                </a:solidFill>
                <a:latin typeface="Noto Serif SC"/>
              </a:defRPr>
            </a:pPr>
            <a:r>
              <a:t>无表情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Noto Serif SC"/>
              </a:defRPr>
            </a:pPr>
            <a:r>
              <a:t>情感劳动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600"/>
              </a:spcAft>
              <a:defRPr sz="12000" b="1">
                <a:solidFill>
                  <a:srgbClr val="FFFFFF"/>
                </a:solidFill>
                <a:latin typeface="Noto Serif SC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2860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0"/>
              </a:spcAft>
              <a:defRPr sz="12000" b="1">
                <a:solidFill>
                  <a:srgbClr val="FFFFFF"/>
                </a:solidFill>
                <a:latin typeface="Noto Serif SC"/>
              </a:defRPr>
            </a:pPr>
            <a:r>
              <a:t>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20040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FFFFFF"/>
                </a:solidFill>
                <a:latin typeface="Noto Serif SC"/>
              </a:defRPr>
            </a:pPr>
            <a:r>
              <a:t>情感劳动是诱发或抑制自己的感受，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FFFFFF"/>
                </a:solidFill>
                <a:latin typeface="Noto Serif SC"/>
              </a:defRPr>
            </a:pPr>
            <a:r>
              <a:t>以便表现出组织要求的情绪。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FFFFFF"/>
                </a:solidFill>
                <a:latin typeface="Noto Serif SC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CC2222"/>
                </a:solidFill>
                <a:latin typeface="Noto Serif SC"/>
              </a:defRPr>
            </a:pPr>
            <a:r>
              <a:t>—— Arlie Russell Hochschild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Noto Serif SC"/>
              </a:defRPr>
            </a:pPr>
            <a:r>
              <a:t>一具身体，三种使用方式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2926080" cy="32004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80"/>
              </a:spcAft>
              <a:defRPr sz="3600" b="0">
                <a:solidFill>
                  <a:srgbClr val="000000"/>
                </a:solidFill>
                <a:latin typeface="Noto Sans SC"/>
              </a:defRPr>
            </a:pPr>
            <a:r>
              <a:t>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00000"/>
                </a:solidFill>
                <a:latin typeface="Noto Sans SC"/>
              </a:defRPr>
            </a:pPr>
            <a:r>
              <a:t>体力劳动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888888"/>
                </a:solidFill>
                <a:latin typeface="Noto Sans SC"/>
              </a:defRPr>
            </a:pPr>
            <a:r>
              <a:t>推餐车</a:t>
            </a:r>
            <a:br/>
            <a:r>
              <a:t>搬行李</a:t>
            </a:r>
            <a:br/>
            <a:r>
              <a:t>递饮料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2743200"/>
            <a:ext cx="2926080" cy="32004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80"/>
              </a:spcAft>
              <a:defRPr sz="3600" b="0">
                <a:solidFill>
                  <a:srgbClr val="333333"/>
                </a:solidFill>
                <a:latin typeface="Noto Sans SC"/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657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333333"/>
                </a:solidFill>
                <a:latin typeface="Noto Sans SC"/>
              </a:defRPr>
            </a:pPr>
            <a:r>
              <a:t>脑力劳动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389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888888"/>
                </a:solidFill>
                <a:latin typeface="Noto Sans SC"/>
              </a:defRPr>
            </a:pPr>
            <a:r>
              <a:t>记流程</a:t>
            </a:r>
            <a:br/>
            <a:r>
              <a:t>判情况</a:t>
            </a:r>
            <a:br/>
            <a:r>
              <a:t>排座位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743200"/>
            <a:ext cx="2926080" cy="32004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80"/>
              </a:spcAft>
              <a:defRPr sz="3600" b="0">
                <a:solidFill>
                  <a:srgbClr val="CC2222"/>
                </a:solidFill>
                <a:latin typeface="Noto Sans SC"/>
              </a:defRPr>
            </a:pPr>
            <a:r>
              <a:t>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657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CC2222"/>
                </a:solidFill>
                <a:latin typeface="Noto Sans SC"/>
              </a:defRPr>
            </a:pPr>
            <a:r>
              <a:t>情感劳动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389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888888"/>
                </a:solidFill>
                <a:latin typeface="Noto Sans SC"/>
              </a:defRPr>
            </a:pPr>
            <a:r>
              <a:t>管理紧张</a:t>
            </a:r>
            <a:br/>
            <a:r>
              <a:t>抑制烦躁</a:t>
            </a:r>
            <a:br/>
            <a:r>
              <a:t>制造安心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Noto Serif SC"/>
              </a:defRPr>
            </a:pPr>
            <a:r>
              <a:t>不只是表面功夫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888888"/>
                </a:solidFill>
                <a:latin typeface="Noto Serif SC"/>
              </a:defRPr>
            </a:pPr>
            <a:r>
              <a:t>"我不开心但我装开心"不够，公司要求你"努力让自己真的开心"。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200400"/>
            <a:ext cx="4114800" cy="2286000"/>
          </a:xfrm>
          <a:prstGeom prst="rect">
            <a:avLst/>
          </a:prstGeom>
          <a:solidFill>
            <a:srgbClr val="181818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38404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888888"/>
                </a:solidFill>
                <a:latin typeface="Noto Sans SC"/>
              </a:defRPr>
            </a:pPr>
            <a:r>
              <a:t>表层表演：嘴在笑，心没笑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3200400"/>
            <a:ext cx="4114800" cy="2286000"/>
          </a:xfrm>
          <a:prstGeom prst="rect">
            <a:avLst/>
          </a:prstGeom>
          <a:solidFill>
            <a:srgbClr val="181818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38404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CC2222"/>
                </a:solidFill>
                <a:latin typeface="Noto Sans SC"/>
              </a:defRPr>
            </a:pPr>
            <a:r>
              <a:t>深层表演：调动记忆和情感，真的进入状态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3931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80"/>
              </a:spcAft>
              <a:defRPr sz="3600" b="0">
                <a:solidFill>
                  <a:srgbClr val="CC2222"/>
                </a:solidFill>
                <a:latin typeface="Noto Serif SC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Noto Serif SC"/>
              </a:defRPr>
            </a:pPr>
            <a:r>
              <a:t>你"应该"感到什么？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888888"/>
                </a:solidFill>
                <a:latin typeface="Noto Serif SC"/>
              </a:defRPr>
            </a:pPr>
            <a:r>
              <a:t>每一种职业，都有一套不成文的情感规则。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926080"/>
            <a:ext cx="4846320" cy="32004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3200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CC2222"/>
                </a:solidFill>
                <a:latin typeface="Noto Sans SC"/>
              </a:defRPr>
            </a:pPr>
            <a:r>
              <a:t>☑  微笑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7033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CC2222"/>
                </a:solidFill>
                <a:latin typeface="Noto Sans SC"/>
              </a:defRPr>
            </a:pPr>
            <a:r>
              <a:t>☑  热情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206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CC2222"/>
                </a:solidFill>
                <a:latin typeface="Noto Sans SC"/>
              </a:defRPr>
            </a:pPr>
            <a:r>
              <a:t>☑  耐心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7091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888888"/>
                </a:solidFill>
                <a:latin typeface="Noto Sans SC"/>
              </a:defRPr>
            </a:pPr>
            <a:r>
              <a:t>☑  积极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212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888888"/>
                </a:solidFill>
                <a:latin typeface="Noto Sans SC"/>
              </a:defRPr>
            </a:pPr>
            <a:r>
              <a:t>☑  友善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017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CC2222"/>
                </a:solidFill>
                <a:latin typeface="Noto Sans SC"/>
              </a:defRPr>
            </a:pPr>
            <a:r>
              <a:t>情绪要求清单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Noto Serif SC"/>
              </a:defRPr>
            </a:pPr>
            <a:r>
              <a:t>被标准化的真诚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888888"/>
                </a:solidFill>
                <a:latin typeface="Noto Serif SC"/>
              </a:defRPr>
            </a:pPr>
            <a:r>
              <a:t>公司要求你自然、真诚，但这种真诚是被培训、考核和标准化出来的。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926080"/>
            <a:ext cx="4114800" cy="2560320"/>
          </a:xfrm>
          <a:prstGeom prst="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3200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888888"/>
                </a:solidFill>
                <a:latin typeface="Noto Sans SC"/>
              </a:defRPr>
            </a:pPr>
            <a:r>
              <a:t>培训室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4389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920"/>
              </a:spcAft>
              <a:defRPr sz="6400" b="0">
                <a:solidFill>
                  <a:srgbClr val="FFFFFF"/>
                </a:solidFill>
                <a:latin typeface="Noto Serif SC"/>
              </a:defRPr>
            </a:pPr>
            <a:r>
              <a:t>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5720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888888"/>
                </a:solidFill>
                <a:latin typeface="Noto Sans SC"/>
              </a:defRPr>
            </a:pPr>
            <a:r>
              <a:t>对镜练习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2926080"/>
            <a:ext cx="4114800" cy="2560320"/>
          </a:xfrm>
          <a:prstGeom prst="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3200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888888"/>
                </a:solidFill>
                <a:latin typeface="Noto Sans SC"/>
              </a:defRPr>
            </a:pPr>
            <a:r>
              <a:t>客舱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389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920"/>
              </a:spcAft>
              <a:defRPr sz="6400" b="0">
                <a:solidFill>
                  <a:srgbClr val="CC2222"/>
                </a:solidFill>
                <a:latin typeface="Noto Serif SC"/>
              </a:defRPr>
            </a:pPr>
            <a:r>
              <a:t>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5720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888888"/>
                </a:solidFill>
                <a:latin typeface="Noto Sans SC"/>
              </a:defRPr>
            </a:pPr>
            <a:r>
              <a:t>对乘客微笑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657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80"/>
              </a:spcAft>
              <a:defRPr sz="3600" b="0">
                <a:solidFill>
                  <a:srgbClr val="CC2222"/>
                </a:solidFill>
                <a:latin typeface="Noto Serif SC"/>
              </a:defRPr>
            </a:pPr>
            <a:r>
              <a:t>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CC2222"/>
                </a:solidFill>
                <a:latin typeface="Noto Serif SC"/>
              </a:defRPr>
            </a:pPr>
            <a:r>
              <a:t>同一个笑容，在两个场景里，它还是"你的"吗？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Noto Serif SC"/>
              </a:defRPr>
            </a:pPr>
            <a:r>
              <a:t>笑，不再只是一个表情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888888"/>
                </a:solidFill>
                <a:latin typeface="Noto Serif SC"/>
              </a:defRPr>
            </a:pPr>
            <a:r>
              <a:t>当微笑变成制服的一部分，它就不再是表情，而是劳动工具。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926080"/>
            <a:ext cx="4846320" cy="2286000"/>
          </a:xfrm>
          <a:prstGeom prst="rect">
            <a:avLst/>
          </a:prstGeom>
          <a:solidFill>
            <a:srgbClr val="25252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320040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0">
                <a:solidFill>
                  <a:srgbClr val="888888"/>
                </a:solidFill>
                <a:latin typeface="Noto Sans SC"/>
              </a:defRPr>
            </a:pPr>
            <a:r>
              <a:t>制服 · 工牌 · 徽章 · 领巾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40"/>
              </a:spcAft>
              <a:defRPr sz="4800" b="0">
                <a:solidFill>
                  <a:srgbClr val="CC2222"/>
                </a:solidFill>
                <a:latin typeface="Noto Serif SC"/>
              </a:defRPr>
            </a:pPr>
            <a:r>
              <a:t>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6692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0">
                <a:solidFill>
                  <a:srgbClr val="CC2222"/>
                </a:solidFill>
                <a:latin typeface="Noto Serif SC"/>
              </a:defRPr>
            </a:pPr>
            <a:r>
              <a:t>微笑，被"穿"上了。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0000"/>
                </a:solidFill>
                <a:latin typeface="Noto Serif SC"/>
              </a:defRPr>
            </a:pPr>
            <a:r>
              <a:t>她在和谁对话？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926080"/>
            <a:ext cx="18288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000000"/>
                </a:solidFill>
                <a:latin typeface="Noto Sans SC"/>
              </a:defRPr>
            </a:pPr>
            <a:r>
              <a:t>马克思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000000"/>
                </a:solidFill>
                <a:latin typeface="Noto Sans SC"/>
              </a:defRPr>
            </a:pPr>
            <a:r>
              <a:t>劳动异化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926080"/>
            <a:ext cx="18288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333333"/>
                </a:solidFill>
                <a:latin typeface="Noto Sans SC"/>
              </a:defRPr>
            </a:pPr>
            <a:r>
              <a:t>米尔斯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333333"/>
                </a:solidFill>
                <a:latin typeface="Noto Sans SC"/>
              </a:defRPr>
            </a:pPr>
            <a:r>
              <a:t>人格商品化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926080"/>
            <a:ext cx="18288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333333"/>
                </a:solidFill>
                <a:latin typeface="Noto Sans SC"/>
              </a:defRPr>
            </a:pPr>
            <a:r>
              <a:t>戈夫曼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333333"/>
                </a:solidFill>
                <a:latin typeface="Noto Sans SC"/>
              </a:defRPr>
            </a:pPr>
            <a:r>
              <a:t>日常生活表演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2926080"/>
            <a:ext cx="18288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CC2222"/>
                </a:solidFill>
                <a:latin typeface="Noto Sans SC"/>
              </a:defRPr>
            </a:pPr>
            <a:r>
              <a:t>霍克希尔德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CC2222"/>
                </a:solidFill>
                <a:latin typeface="Noto Sans SC"/>
              </a:defRPr>
            </a:pPr>
            <a:r>
              <a:t>管理内心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383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0"/>
              </a:spcAft>
              <a:defRPr sz="2400" b="0">
                <a:solidFill>
                  <a:srgbClr val="888888"/>
                </a:solidFill>
                <a:latin typeface="Noto Serif SC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383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0"/>
              </a:spcAft>
              <a:defRPr sz="2400" b="0">
                <a:solidFill>
                  <a:srgbClr val="888888"/>
                </a:solidFill>
                <a:latin typeface="Noto Serif SC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383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0"/>
              </a:spcAft>
              <a:defRPr sz="2400" b="0">
                <a:solidFill>
                  <a:srgbClr val="888888"/>
                </a:solidFill>
                <a:latin typeface="Noto Serif SC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Noto Serif SC"/>
              </a:defRPr>
            </a:pPr>
            <a:r>
              <a:t>今天，我们都在做情感劳动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888888"/>
                </a:solidFill>
                <a:latin typeface="Noto Serif SC"/>
              </a:defRPr>
            </a:pPr>
            <a:r>
              <a:t>客服、销售、主播、教师、医护、职场沟通——情感劳动无处不在。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>
                <a:solidFill>
                  <a:srgbClr val="888888"/>
                </a:solidFill>
                <a:latin typeface="Noto Sans SC"/>
              </a:defRPr>
            </a:pPr>
            <a:r>
              <a:t>🎧 客服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>
                <a:solidFill>
                  <a:srgbClr val="888888"/>
                </a:solidFill>
                <a:latin typeface="Noto Sans SC"/>
              </a:defRPr>
            </a:pPr>
            <a:r>
              <a:t>💡 直播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>
                <a:solidFill>
                  <a:srgbClr val="888888"/>
                </a:solidFill>
                <a:latin typeface="Noto Sans SC"/>
              </a:defRPr>
            </a:pPr>
            <a:r>
              <a:t>📋 教师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06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>
                <a:solidFill>
                  <a:srgbClr val="888888"/>
                </a:solidFill>
                <a:latin typeface="Noto Sans SC"/>
              </a:defRPr>
            </a:pPr>
            <a:r>
              <a:t>🩺 医护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4206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>
                <a:solidFill>
                  <a:srgbClr val="888888"/>
                </a:solidFill>
                <a:latin typeface="Noto Sans SC"/>
              </a:defRPr>
            </a:pPr>
            <a:r>
              <a:t>💼 职场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206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>
                <a:solidFill>
                  <a:srgbClr val="888888"/>
                </a:solidFill>
                <a:latin typeface="Noto Sans SC"/>
              </a:defRPr>
            </a:pPr>
            <a:r>
              <a:t>📱 社交媒体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394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>
                <a:solidFill>
                  <a:srgbClr val="888888"/>
                </a:solidFill>
                <a:latin typeface="Noto Sans SC"/>
              </a:defRPr>
            </a:pPr>
            <a:r>
              <a:t>🏪 销售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394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>
                <a:solidFill>
                  <a:srgbClr val="CC2222"/>
                </a:solidFill>
                <a:latin typeface="Noto Sans SC"/>
              </a:defRPr>
            </a:pPr>
            <a:r>
              <a:t>🎀 空乘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5394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>
                <a:solidFill>
                  <a:srgbClr val="888888"/>
                </a:solidFill>
                <a:latin typeface="Noto Sans SC"/>
              </a:defRPr>
            </a:pPr>
            <a:r>
              <a:t>💳 收银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FFFFF"/>
                </a:solidFill>
                <a:latin typeface="Noto Serif SC"/>
              </a:defRPr>
            </a:pPr>
            <a:r>
              <a:t>不只是做事，而是"正确地去感受"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888888"/>
                </a:solidFill>
                <a:latin typeface="Noto Serif SC"/>
              </a:defRPr>
            </a:pPr>
            <a:r>
              <a:t>现代工作不只要求你做事，还要求你"以正确的方式感受"。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743200"/>
            <a:ext cx="3931920" cy="3200400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700000">
            <a:off x="3657600" y="3474720"/>
            <a:ext cx="4846320" cy="381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888888"/>
                </a:solidFill>
                <a:latin typeface="Noto Sans SC"/>
              </a:defRPr>
            </a:pPr>
            <a:r>
              <a:t>员工姓名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840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80"/>
              </a:spcAft>
              <a:defRPr sz="3600" b="1">
                <a:solidFill>
                  <a:srgbClr val="CC2222"/>
                </a:solidFill>
                <a:latin typeface="Noto Serif SC"/>
              </a:defRPr>
            </a:pPr>
            <a:r>
              <a:t>SMILE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888888"/>
                </a:solidFill>
                <a:latin typeface="Noto Sans SC"/>
              </a:defRPr>
            </a:pPr>
            <a:r>
              <a:t>职位描述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39"/>
              </a:spcAft>
              <a:defRPr sz="2800" b="0">
                <a:solidFill>
                  <a:srgbClr val="FFFFFF"/>
                </a:solidFill>
                <a:latin typeface="Noto Serif SC"/>
              </a:defRPr>
            </a:pPr>
            <a:r>
              <a:t>公司购买的不只是时间，还有心情。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0"/>
              </a:spcAft>
              <a:defRPr sz="2400" b="0">
                <a:solidFill>
                  <a:srgbClr val="CC2222"/>
                </a:solidFill>
                <a:latin typeface="Noto Serif SC"/>
              </a:defRPr>
            </a:pPr>
            <a:r>
              <a:t>你的微笑，属于你自己吗？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291840"/>
            <a:ext cx="4846320" cy="254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0">
                <a:solidFill>
                  <a:srgbClr val="888888"/>
                </a:solidFill>
                <a:latin typeface="Noto Sans SC"/>
              </a:defRPr>
            </a:pPr>
            <a:r>
              <a:t>谢谢大家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